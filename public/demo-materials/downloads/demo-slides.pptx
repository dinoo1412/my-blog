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3" r:id="rId3"/>
    <p:sldId id="272" r:id="rId4"/>
    <p:sldId id="268" r:id="rId5"/>
    <p:sldId id="270" r:id="rId6"/>
    <p:sldId id="259" r:id="rId7"/>
    <p:sldId id="258" r:id="rId8"/>
    <p:sldId id="260" r:id="rId9"/>
    <p:sldId id="261" r:id="rId10"/>
    <p:sldId id="262" r:id="rId11"/>
    <p:sldId id="263" r:id="rId12"/>
    <p:sldId id="266" r:id="rId13"/>
    <p:sldId id="267" r:id="rId14"/>
    <p:sldId id="264" r:id="rId15"/>
    <p:sldId id="265" r:id="rId16"/>
    <p:sldId id="27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E80"/>
    <a:srgbClr val="FBFCFD"/>
    <a:srgbClr val="4E667D"/>
    <a:srgbClr val="646C77"/>
    <a:srgbClr val="B1C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490" y="2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827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538F-94F5-EDF4-93EC-8021AF142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A748A8-59B7-1FEF-98F9-3D809D0BE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421BE-B06B-F380-F63A-0E94C0007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49A5D-29F5-7EEE-3F02-00F38FECC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61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B772-0A3E-3199-8FD1-1B211F862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61A8A-ECAD-445C-AC00-3FB0B1B40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DE41C-7195-A590-2F16-97ADAF5B6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DA71A-2FD6-0916-01AE-C168ED3F72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54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B4035-CD3B-2340-86C0-BA7014BE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31792-3105-9417-FF51-4E1AB1024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F449F-7D83-39AC-5DBC-A7D178C76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22AA1-F927-3DEF-7C56-030412564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60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EAC4C-CEAB-A72E-6BAE-7556D283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32327-21C2-4E1B-4A42-465A57BDB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11B9B-F399-22FE-579B-5F1905180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AD9BF-BF88-B45D-A527-BF1F1E7F6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36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blo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826" y="-50449"/>
            <a:ext cx="5486400" cy="5486400"/>
          </a:xfrm>
          <a:prstGeom prst="rect">
            <a:avLst/>
          </a:prstGeom>
        </p:spPr>
      </p:pic>
      <p:pic>
        <p:nvPicPr>
          <p:cNvPr id="4" name="Image 2" descr="blob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94560" y="2560320"/>
            <a:ext cx="4206240" cy="420624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03504" y="1280160"/>
            <a:ext cx="27432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2"/>
          <p:cNvSpPr/>
          <p:nvPr/>
        </p:nvSpPr>
        <p:spPr>
          <a:xfrm>
            <a:off x="987552" y="11612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×  前端  ×  SKILL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603504" y="1517904"/>
            <a:ext cx="6263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巧用 Skill</a:t>
            </a:r>
            <a:endParaRPr lang="en-US" sz="3500" dirty="0"/>
          </a:p>
          <a:p>
            <a:pPr marL="0" indent="0">
              <a:lnSpc>
                <a:spcPts val="4500"/>
              </a:lnSpc>
              <a:buNone/>
            </a:pPr>
            <a:r>
              <a:rPr lang="en-US" sz="3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让前端页面不再有</a:t>
            </a:r>
            <a:r>
              <a:rPr lang="en-US" sz="3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「AI」</a:t>
            </a:r>
            <a:r>
              <a:rPr lang="en-US" sz="3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味</a:t>
            </a:r>
            <a:endParaRPr lang="en-US" sz="3500" dirty="0"/>
          </a:p>
        </p:txBody>
      </p:sp>
      <p:sp>
        <p:nvSpPr>
          <p:cNvPr id="9" name="Text 4"/>
          <p:cNvSpPr/>
          <p:nvPr/>
        </p:nvSpPr>
        <p:spPr>
          <a:xfrm>
            <a:off x="603504" y="30540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从模糊输出到精准交付的完整方法论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603504" y="3730752"/>
            <a:ext cx="566928" cy="20117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11" name="Text 6"/>
          <p:cNvSpPr/>
          <p:nvPr/>
        </p:nvSpPr>
        <p:spPr>
          <a:xfrm>
            <a:off x="603504" y="387705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人工智能事业群 · 基础平台技术中心 · </a:t>
            </a:r>
            <a:r>
              <a:rPr lang="en-US" sz="1200" dirty="0" err="1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研发中心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479792" y="2084832"/>
            <a:ext cx="1298448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pic>
        <p:nvPicPr>
          <p:cNvPr id="13" name="Image 3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2286000"/>
            <a:ext cx="969264" cy="4520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logo.png">
            <a:extLst>
              <a:ext uri="{FF2B5EF4-FFF2-40B4-BE49-F238E27FC236}">
                <a16:creationId xmlns:a16="http://schemas.microsoft.com/office/drawing/2014/main" id="{434CACFC-09DE-84C1-6062-C51849200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024779B-CFA7-277E-F631-57DF68208783}"/>
              </a:ext>
            </a:extLst>
          </p:cNvPr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DC75211-F966-FF41-9E37-EBB943A7C0FA}"/>
              </a:ext>
            </a:extLst>
          </p:cNvPr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什么是 SKILL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EF0BDCA-ED43-51A8-3939-4264BBF78761}"/>
              </a:ext>
            </a:extLst>
          </p:cNvPr>
          <p:cNvSpPr/>
          <p:nvPr/>
        </p:nvSpPr>
        <p:spPr>
          <a:xfrm>
            <a:off x="354248" y="871069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Skill </a:t>
            </a:r>
            <a:r>
              <a:rPr lang="zh-CN" alt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适用于什么场景</a:t>
            </a: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2600" dirty="0">
              <a:solidFill>
                <a:srgbClr val="1C4E80"/>
              </a:solidFill>
            </a:endParaRPr>
          </a:p>
        </p:txBody>
      </p:sp>
      <p:pic>
        <p:nvPicPr>
          <p:cNvPr id="6" name="图片 5" descr="痛点场景">
            <a:extLst>
              <a:ext uri="{FF2B5EF4-FFF2-40B4-BE49-F238E27FC236}">
                <a16:creationId xmlns:a16="http://schemas.microsoft.com/office/drawing/2014/main" id="{4AEF8C44-1128-B8C3-2C68-9D48C117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189" y="1217168"/>
            <a:ext cx="4917743" cy="27457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7B2EC50C-48BE-F615-DD40-4CF33A9B0EB5}"/>
              </a:ext>
            </a:extLst>
          </p:cNvPr>
          <p:cNvSpPr/>
          <p:nvPr/>
        </p:nvSpPr>
        <p:spPr>
          <a:xfrm>
            <a:off x="294981" y="3055979"/>
            <a:ext cx="3703320" cy="906929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226AE8-2383-C836-CBC6-F7EB3B5CAE12}"/>
              </a:ext>
            </a:extLst>
          </p:cNvPr>
          <p:cNvSpPr txBox="1"/>
          <p:nvPr/>
        </p:nvSpPr>
        <p:spPr>
          <a:xfrm>
            <a:off x="447027" y="3111489"/>
            <a:ext cx="331456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646C77"/>
                </a:solidFill>
                <a:ea typeface="黑体" panose="02010609060101010101" pitchFamily="49" charset="-122"/>
              </a:rPr>
              <a:t>本质是把一套</a:t>
            </a:r>
            <a:r>
              <a:rPr lang="zh-CN" altLang="en-US" sz="1400" dirty="0">
                <a:solidFill>
                  <a:srgbClr val="C00000"/>
                </a:solidFill>
                <a:ea typeface="黑体" panose="02010609060101010101" pitchFamily="49" charset="-122"/>
              </a:rPr>
              <a:t>稳定可复用</a:t>
            </a:r>
            <a:r>
              <a:rPr lang="zh-CN" altLang="en-US" sz="1400" dirty="0">
                <a:solidFill>
                  <a:srgbClr val="646C77"/>
                </a:solidFill>
                <a:ea typeface="黑体" panose="02010609060101010101" pitchFamily="49" charset="-122"/>
              </a:rPr>
              <a:t>的处理逻辑封装成模块，是面向</a:t>
            </a:r>
            <a:r>
              <a:rPr lang="en-US" altLang="zh-CN" sz="1400" dirty="0">
                <a:solidFill>
                  <a:srgbClr val="646C77"/>
                </a:solidFill>
                <a:ea typeface="黑体" panose="02010609060101010101" pitchFamily="49" charset="-122"/>
              </a:rPr>
              <a:t>AI</a:t>
            </a:r>
            <a:r>
              <a:rPr lang="zh-CN" altLang="en-US" sz="1400" dirty="0">
                <a:solidFill>
                  <a:srgbClr val="646C77"/>
                </a:solidFill>
                <a:ea typeface="黑体" panose="02010609060101010101" pitchFamily="49" charset="-122"/>
              </a:rPr>
              <a:t>的一个</a:t>
            </a:r>
            <a:r>
              <a:rPr lang="zh-CN" altLang="en-US" b="1" dirty="0">
                <a:solidFill>
                  <a:srgbClr val="C00000"/>
                </a:solidFill>
                <a:ea typeface="黑体" panose="02010609060101010101" pitchFamily="49" charset="-122"/>
              </a:rPr>
              <a:t>技能包</a:t>
            </a:r>
            <a:br>
              <a:rPr lang="en-US" altLang="zh-CN" b="1" dirty="0">
                <a:solidFill>
                  <a:srgbClr val="C00000"/>
                </a:solidFill>
                <a:ea typeface="黑体" panose="02010609060101010101" pitchFamily="49" charset="-122"/>
              </a:rPr>
            </a:br>
            <a:r>
              <a:rPr lang="zh-CN" altLang="en-US" sz="1400" dirty="0">
                <a:solidFill>
                  <a:srgbClr val="646C77"/>
                </a:solidFill>
                <a:ea typeface="黑体" panose="02010609060101010101" pitchFamily="49" charset="-122"/>
              </a:rPr>
              <a:t>让 </a:t>
            </a:r>
            <a:r>
              <a:rPr lang="en-US" altLang="zh-CN" sz="1400" dirty="0">
                <a:solidFill>
                  <a:srgbClr val="646C77"/>
                </a:solidFill>
                <a:ea typeface="黑体" panose="02010609060101010101" pitchFamily="49" charset="-122"/>
              </a:rPr>
              <a:t>Agent </a:t>
            </a:r>
            <a:r>
              <a:rPr lang="zh-CN" altLang="en-US" sz="1400" dirty="0">
                <a:solidFill>
                  <a:srgbClr val="646C77"/>
                </a:solidFill>
                <a:ea typeface="黑体" panose="02010609060101010101" pitchFamily="49" charset="-122"/>
              </a:rPr>
              <a:t>能更稳定、可控地执行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3B7695C-7316-FC14-D534-6EA04EF31041}"/>
              </a:ext>
            </a:extLst>
          </p:cNvPr>
          <p:cNvSpPr/>
          <p:nvPr/>
        </p:nvSpPr>
        <p:spPr>
          <a:xfrm>
            <a:off x="294981" y="1781703"/>
            <a:ext cx="3703320" cy="875357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F3BB81-E41D-832F-C4DB-F1E7048AFD26}"/>
              </a:ext>
            </a:extLst>
          </p:cNvPr>
          <p:cNvSpPr txBox="1"/>
          <p:nvPr/>
        </p:nvSpPr>
        <p:spPr>
          <a:xfrm>
            <a:off x="447027" y="1856163"/>
            <a:ext cx="33145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46C77"/>
                </a:solidFill>
                <a:ea typeface="黑体" panose="02010609060101010101" pitchFamily="49" charset="-122"/>
              </a:rPr>
              <a:t>Skill </a:t>
            </a:r>
            <a:r>
              <a:rPr lang="zh-CN" altLang="en-US" sz="1400" dirty="0">
                <a:solidFill>
                  <a:srgbClr val="646C77"/>
                </a:solidFill>
                <a:ea typeface="黑体" panose="02010609060101010101" pitchFamily="49" charset="-122"/>
              </a:rPr>
              <a:t>适用于那些有</a:t>
            </a:r>
            <a:r>
              <a:rPr lang="zh-CN" altLang="en-US" sz="1400" dirty="0">
                <a:solidFill>
                  <a:srgbClr val="C00000"/>
                </a:solidFill>
                <a:ea typeface="黑体" panose="02010609060101010101" pitchFamily="49" charset="-122"/>
              </a:rPr>
              <a:t>固定流程、需要结构化输出、可能复用或需要结合外部资源</a:t>
            </a:r>
            <a:r>
              <a:rPr lang="zh-CN" altLang="en-US" sz="1400" dirty="0">
                <a:solidFill>
                  <a:srgbClr val="646C77"/>
                </a:solidFill>
                <a:ea typeface="黑体" panose="02010609060101010101" pitchFamily="49" charset="-122"/>
              </a:rPr>
              <a:t>（如脚本、文档、模板）的任务</a:t>
            </a:r>
            <a:endParaRPr lang="en-US" altLang="zh-CN" sz="1400" dirty="0">
              <a:solidFill>
                <a:srgbClr val="646C77"/>
              </a:solidFill>
              <a:ea typeface="黑体" panose="02010609060101010101" pitchFamily="49" charset="-122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FA9FB58A-E187-86DC-6DB7-982360F960FB}"/>
              </a:ext>
            </a:extLst>
          </p:cNvPr>
          <p:cNvSpPr/>
          <p:nvPr/>
        </p:nvSpPr>
        <p:spPr>
          <a:xfrm>
            <a:off x="293641" y="1918395"/>
            <a:ext cx="45719" cy="649355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/>
        </p:spPr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C0B2CA2F-8701-AE6E-ADED-A58DA8ED8EFA}"/>
              </a:ext>
            </a:extLst>
          </p:cNvPr>
          <p:cNvSpPr/>
          <p:nvPr/>
        </p:nvSpPr>
        <p:spPr>
          <a:xfrm>
            <a:off x="293641" y="3184765"/>
            <a:ext cx="45719" cy="649355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/>
        </p:spPr>
      </p:sp>
    </p:spTree>
    <p:extLst>
      <p:ext uri="{BB962C8B-B14F-4D97-AF65-F5344CB8AC3E}">
        <p14:creationId xmlns:p14="http://schemas.microsoft.com/office/powerpoint/2010/main" val="65410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logo.png">
            <a:extLst>
              <a:ext uri="{FF2B5EF4-FFF2-40B4-BE49-F238E27FC236}">
                <a16:creationId xmlns:a16="http://schemas.microsoft.com/office/drawing/2014/main" id="{B7776DF7-C0F4-C354-A66F-24F8BA48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247F1B7-86A4-43ED-C5F9-8E8366313E3A}"/>
              </a:ext>
            </a:extLst>
          </p:cNvPr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8C19554-7B58-5878-F637-D73DC4F9D7AC}"/>
              </a:ext>
            </a:extLst>
          </p:cNvPr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什么是 SKILL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708C4EC-177A-22F7-602E-4612441E80C6}"/>
              </a:ext>
            </a:extLst>
          </p:cNvPr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</a:t>
            </a:r>
            <a:r>
              <a:rPr lang="zh-CN" alt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有什么能力</a:t>
            </a: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26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03B9CB06-7967-983C-9B0F-64458DA1DDC2}"/>
              </a:ext>
            </a:extLst>
          </p:cNvPr>
          <p:cNvSpPr/>
          <p:nvPr/>
        </p:nvSpPr>
        <p:spPr>
          <a:xfrm>
            <a:off x="521100" y="1292354"/>
            <a:ext cx="3557678" cy="3540250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F01BAAE-ED43-9AE6-B6AC-FAE34F6E6667}"/>
              </a:ext>
            </a:extLst>
          </p:cNvPr>
          <p:cNvSpPr/>
          <p:nvPr/>
        </p:nvSpPr>
        <p:spPr>
          <a:xfrm>
            <a:off x="882990" y="1857566"/>
            <a:ext cx="297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5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07A1412-E1A5-60B7-E410-A0C056E5964E}"/>
              </a:ext>
            </a:extLst>
          </p:cNvPr>
          <p:cNvSpPr/>
          <p:nvPr/>
        </p:nvSpPr>
        <p:spPr>
          <a:xfrm>
            <a:off x="1352912" y="2411125"/>
            <a:ext cx="2759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4E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自动触发</a:t>
            </a:r>
            <a:r>
              <a:rPr lang="zh-CN" altLang="en-US" sz="1400" dirty="0">
                <a:solidFill>
                  <a:srgbClr val="64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：根据场景自动应用</a:t>
            </a:r>
            <a:endParaRPr lang="en-US" sz="14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3878D3EA-2794-1773-DE23-FF83A06C50F8}"/>
              </a:ext>
            </a:extLst>
          </p:cNvPr>
          <p:cNvSpPr/>
          <p:nvPr/>
        </p:nvSpPr>
        <p:spPr>
          <a:xfrm>
            <a:off x="676691" y="194208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98959D8-BF2D-E9BC-4E88-B425A0A14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08" y="2287355"/>
            <a:ext cx="622332" cy="1752690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268BF6FD-35BE-E463-166C-95EE1A231874}"/>
              </a:ext>
            </a:extLst>
          </p:cNvPr>
          <p:cNvSpPr/>
          <p:nvPr/>
        </p:nvSpPr>
        <p:spPr>
          <a:xfrm>
            <a:off x="1306842" y="3006472"/>
            <a:ext cx="2759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4E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渐进式加载</a:t>
            </a:r>
            <a:r>
              <a:rPr lang="zh-CN" altLang="en-US" sz="1400" dirty="0">
                <a:solidFill>
                  <a:srgbClr val="64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：按需加载、提升效率</a:t>
            </a:r>
            <a:endParaRPr lang="en-US" sz="14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0C0CFEB-1886-D537-EBA6-F8BCF5CCF18B}"/>
              </a:ext>
            </a:extLst>
          </p:cNvPr>
          <p:cNvSpPr/>
          <p:nvPr/>
        </p:nvSpPr>
        <p:spPr>
          <a:xfrm>
            <a:off x="1352912" y="3601820"/>
            <a:ext cx="2759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4E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</a:t>
            </a:r>
            <a:r>
              <a:rPr lang="zh-CN" altLang="en-US" sz="1400" dirty="0">
                <a:solidFill>
                  <a:srgbClr val="64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：跨团队复用</a:t>
            </a:r>
            <a:endParaRPr lang="en-US" sz="1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2C8BD01-AA08-2E5C-F64C-58D24CE9B4C6}"/>
              </a:ext>
            </a:extLst>
          </p:cNvPr>
          <p:cNvSpPr txBox="1"/>
          <p:nvPr/>
        </p:nvSpPr>
        <p:spPr>
          <a:xfrm>
            <a:off x="4330627" y="2057407"/>
            <a:ext cx="4835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入门门槛低</a:t>
            </a:r>
            <a:endParaRPr lang="en-US" altLang="zh-CN" sz="36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36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节省</a:t>
            </a:r>
            <a:r>
              <a:rPr lang="en-US" altLang="zh-CN" sz="36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Token</a:t>
            </a:r>
          </a:p>
          <a:p>
            <a:r>
              <a:rPr lang="zh-CN" altLang="en-US" sz="36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可跨项目、跨团队复用</a:t>
            </a:r>
          </a:p>
        </p:txBody>
      </p:sp>
    </p:spTree>
    <p:extLst>
      <p:ext uri="{BB962C8B-B14F-4D97-AF65-F5344CB8AC3E}">
        <p14:creationId xmlns:p14="http://schemas.microsoft.com/office/powerpoint/2010/main" val="2170950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31FF5-41C9-E7EB-7BC8-470BC26A6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>
            <a:extLst>
              <a:ext uri="{FF2B5EF4-FFF2-40B4-BE49-F238E27FC236}">
                <a16:creationId xmlns:a16="http://schemas.microsoft.com/office/drawing/2014/main" id="{8F74EA3A-35FA-5296-0467-8E9A5C15F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logo.png">
            <a:extLst>
              <a:ext uri="{FF2B5EF4-FFF2-40B4-BE49-F238E27FC236}">
                <a16:creationId xmlns:a16="http://schemas.microsoft.com/office/drawing/2014/main" id="{E640E7F1-D15F-A974-1669-5BC380BE2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8DBE7F0A-5AA1-2E63-1758-83F9C8B36C19}"/>
              </a:ext>
            </a:extLst>
          </p:cNvPr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D914174-8AFB-FCF7-48D8-5CA32444934A}"/>
              </a:ext>
            </a:extLst>
          </p:cNvPr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什么是 SKILL</a:t>
            </a:r>
            <a:endParaRPr lang="en-US" sz="11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2698063-53BE-ECC6-3C92-C0045FF5FED8}"/>
              </a:ext>
            </a:extLst>
          </p:cNvPr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</a:t>
            </a:r>
            <a:r>
              <a:rPr lang="zh-CN" alt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如何构成</a:t>
            </a: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26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46825E43-572F-E142-F11F-9A0C353FDC28}"/>
              </a:ext>
            </a:extLst>
          </p:cNvPr>
          <p:cNvSpPr/>
          <p:nvPr/>
        </p:nvSpPr>
        <p:spPr>
          <a:xfrm>
            <a:off x="603504" y="1444752"/>
            <a:ext cx="4037292" cy="3127248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E0778E6-C88A-0D0F-2683-D0F2D6D0D662}"/>
              </a:ext>
            </a:extLst>
          </p:cNvPr>
          <p:cNvSpPr/>
          <p:nvPr/>
        </p:nvSpPr>
        <p:spPr>
          <a:xfrm>
            <a:off x="782028" y="1616915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BCE2092-95FA-B102-8F17-44A5C1FC314E}"/>
              </a:ext>
            </a:extLst>
          </p:cNvPr>
          <p:cNvSpPr/>
          <p:nvPr/>
        </p:nvSpPr>
        <p:spPr>
          <a:xfrm>
            <a:off x="983196" y="1525475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一个典型的 </a:t>
            </a:r>
            <a:r>
              <a:rPr lang="en-US" altLang="zh-CN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</a:t>
            </a:r>
            <a:r>
              <a:rPr lang="zh-CN" altLang="en-US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的文件夹结构如下</a:t>
            </a:r>
            <a:endParaRPr lang="en-US" sz="15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8BF0830-2E7E-6302-0CF8-CBB5172107FC}"/>
              </a:ext>
            </a:extLst>
          </p:cNvPr>
          <p:cNvSpPr txBox="1"/>
          <p:nvPr/>
        </p:nvSpPr>
        <p:spPr>
          <a:xfrm>
            <a:off x="983196" y="1896537"/>
            <a:ext cx="4132217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skill-name/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├── </a:t>
            </a:r>
            <a:r>
              <a:rPr lang="en-US" altLang="zh-CN" sz="1600" b="1" i="0" dirty="0">
                <a:solidFill>
                  <a:srgbClr val="C00000"/>
                </a:solidFill>
                <a:effectLst/>
                <a:ea typeface="黑体" panose="02010609060101010101" pitchFamily="49" charset="-122"/>
              </a:rPr>
              <a:t>SKILL.md 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(</a:t>
            </a:r>
            <a:r>
              <a:rPr lang="zh-CN" altLang="en-US" sz="1400" b="1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必需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)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│   ├── YAML </a:t>
            </a:r>
            <a:r>
              <a:rPr lang="zh-CN" altLang="en-US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前置元数据 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(</a:t>
            </a:r>
            <a:r>
              <a:rPr lang="zh-CN" altLang="en-US" sz="1400" b="1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必需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)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│   │   ├── name: (</a:t>
            </a:r>
            <a:r>
              <a:rPr lang="zh-CN" altLang="en-US" sz="1400" b="1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必需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)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│   │   └── description: (</a:t>
            </a:r>
            <a:r>
              <a:rPr lang="zh-CN" altLang="en-US" sz="1400" b="1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必需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)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│   └── Markdown </a:t>
            </a:r>
            <a:r>
              <a:rPr lang="zh-CN" altLang="en-US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指令 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(</a:t>
            </a:r>
            <a:r>
              <a:rPr lang="zh-CN" altLang="en-US" sz="1400" b="1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必需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)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└── </a:t>
            </a:r>
            <a:r>
              <a:rPr lang="zh-CN" altLang="en-US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打包资源 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(</a:t>
            </a:r>
            <a:r>
              <a:rPr lang="zh-CN" altLang="en-US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可选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)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    ├── scripts/     - </a:t>
            </a:r>
            <a:r>
              <a:rPr lang="zh-CN" altLang="en-US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可执行代码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    ├── 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references/  - </a:t>
            </a:r>
            <a:r>
              <a:rPr lang="zh-CN" altLang="en-US" sz="1400" dirty="0">
                <a:solidFill>
                  <a:srgbClr val="4E667D"/>
                </a:solidFill>
                <a:ea typeface="黑体" panose="02010609060101010101" pitchFamily="49" charset="-122"/>
              </a:rPr>
              <a:t>参考</a:t>
            </a:r>
            <a:r>
              <a:rPr lang="zh-CN" altLang="en-US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文档</a:t>
            </a:r>
          </a:p>
          <a:p>
            <a:pPr algn="l">
              <a:buNone/>
            </a:pPr>
            <a:r>
              <a:rPr lang="zh-CN" altLang="en-US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    └── </a:t>
            </a:r>
            <a:r>
              <a:rPr lang="en-US" altLang="zh-CN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assets/      - </a:t>
            </a:r>
            <a:r>
              <a:rPr lang="zh-CN" altLang="en-US" sz="1400" b="0" i="0" dirty="0">
                <a:solidFill>
                  <a:srgbClr val="4E667D"/>
                </a:solidFill>
                <a:effectLst/>
                <a:ea typeface="黑体" panose="02010609060101010101" pitchFamily="49" charset="-122"/>
              </a:rPr>
              <a:t>输出文件（模板等）</a:t>
            </a:r>
          </a:p>
        </p:txBody>
      </p:sp>
      <p:pic>
        <p:nvPicPr>
          <p:cNvPr id="39" name="图片 38" descr="目录结构">
            <a:extLst>
              <a:ext uri="{FF2B5EF4-FFF2-40B4-BE49-F238E27FC236}">
                <a16:creationId xmlns:a16="http://schemas.microsoft.com/office/drawing/2014/main" id="{E33C637A-C08B-001B-FDE5-0A918D37C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670" y="1525475"/>
            <a:ext cx="4137164" cy="2309916"/>
          </a:xfrm>
          <a:prstGeom prst="rect">
            <a:avLst/>
          </a:prstGeom>
          <a:effectLst>
            <a:reflection blurRad="6350" stA="50000" endA="300" endPos="55500" dist="1016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89557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710A9CF-D994-E947-0F55-77468CC56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66" y="0"/>
            <a:ext cx="7475468" cy="498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22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1"/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AI 生成前端的典型问题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生成前端的典型痛点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603504" y="1481328"/>
            <a:ext cx="3895344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538728" y="157276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Shape 5"/>
          <p:cNvSpPr/>
          <p:nvPr/>
        </p:nvSpPr>
        <p:spPr>
          <a:xfrm>
            <a:off x="859536" y="1719072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1796796"/>
            <a:ext cx="246888" cy="2468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26464" y="171907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布局混乱，间距随意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426464" y="2103120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倾向于「堆满」页面，缺乏呼吸感与视觉层级，留白规则不统一。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718304" y="1481328"/>
            <a:ext cx="3895344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7653528" y="157276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Shape 10"/>
          <p:cNvSpPr/>
          <p:nvPr/>
        </p:nvSpPr>
        <p:spPr>
          <a:xfrm>
            <a:off x="4974336" y="1719072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60" y="1796796"/>
            <a:ext cx="246888" cy="2468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41264" y="171907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颜色不统一，缺乏设计感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5541264" y="2103120"/>
            <a:ext cx="3035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每次生成结果色彩各异，无法形成品牌一致性，背景色随机选取。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03504" y="3017520"/>
            <a:ext cx="3895344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3538728" y="3108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859536" y="3255264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332988"/>
            <a:ext cx="246888" cy="2468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26464" y="3255264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组件重复造轮子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426464" y="3639312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忽视已有设计系统，重新实现按钮、卡片等基础组件，代码冗余。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718304" y="3017520"/>
            <a:ext cx="3895344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7653528" y="3108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D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7" name="Shape 20"/>
          <p:cNvSpPr/>
          <p:nvPr/>
        </p:nvSpPr>
        <p:spPr>
          <a:xfrm>
            <a:off x="4974336" y="3255264"/>
            <a:ext cx="402336" cy="402336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60" y="3332988"/>
            <a:ext cx="246888" cy="2468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41264" y="3255264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代码风格不一致，难维护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5541264" y="3639312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命名规范、文件结构、CSS 写法每次都不同，后期维护成本极高。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如何构建前端相关的 </a:t>
            </a: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？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603504" y="1444752"/>
            <a:ext cx="4370832" cy="3127248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77824" y="170078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5"/>
          <p:cNvSpPr/>
          <p:nvPr/>
        </p:nvSpPr>
        <p:spPr>
          <a:xfrm>
            <a:off x="1078992" y="16093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该如何构建前端有关的 </a:t>
            </a:r>
            <a:r>
              <a:rPr lang="en-US" altLang="zh-CN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77824" y="2029968"/>
            <a:ext cx="3858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zh-CN" altLang="en-US" sz="1400" dirty="0">
                <a:solidFill>
                  <a:srgbClr val="646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前端设计</a:t>
            </a:r>
            <a:r>
              <a:rPr lang="zh-CN" altLang="en-US" sz="14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相关的</a:t>
            </a:r>
            <a:r>
              <a:rPr lang="en-US" altLang="zh-CN" sz="14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SKILL </a:t>
            </a:r>
            <a:r>
              <a:rPr lang="zh-CN" altLang="en-US" sz="14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r>
              <a:rPr lang="en-US" sz="1400" dirty="0" err="1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包含设计规范、组件模板、代码约束与常见错误清单，让</a:t>
            </a:r>
            <a:r>
              <a:rPr lang="en-US" sz="14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有章可循，而非凭直觉生成。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77824" y="3493008"/>
            <a:ext cx="32004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8"/>
          <p:cNvSpPr/>
          <p:nvPr/>
        </p:nvSpPr>
        <p:spPr>
          <a:xfrm>
            <a:off x="1060704" y="3493008"/>
            <a:ext cx="3639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   </a:t>
            </a:r>
            <a:r>
              <a:rPr lang="en-US" sz="120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给施工队一份精确的施工图纸，而非口头说「盖一栋房子」。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285232" y="148132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包含的内容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285232" y="1865376"/>
            <a:ext cx="1581912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68112" y="2048256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696" y="214884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68112" y="259689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设计规范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68112" y="283464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色值、字号、间距标准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976872" y="1865376"/>
            <a:ext cx="1581912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59752" y="2048256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6" y="214884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9752" y="259689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组件库模板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59752" y="283464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 UI 组件代码片段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285232" y="3310128"/>
            <a:ext cx="1581912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68112" y="3493008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8696" y="359359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68112" y="404164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清单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68112" y="4279392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溢出、对比度自查项目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976872" y="3310128"/>
            <a:ext cx="1581912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159752" y="3493008"/>
            <a:ext cx="457200" cy="457200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0336" y="359359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59752" y="404164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反模式清单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159752" y="4279392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禁止使用的写法和样式</a:t>
            </a:r>
            <a:endParaRPr lang="en-US" sz="95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80ED7631-D267-1D8D-C881-BD83D6F23D08}"/>
              </a:ext>
            </a:extLst>
          </p:cNvPr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1969B295-D3E6-B3BF-1638-9FB7D3232C6C}"/>
              </a:ext>
            </a:extLst>
          </p:cNvPr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SKILL 的核心优化策略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1"/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SKILL 的核心优化策略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的三大核心模块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603504" y="1481328"/>
            <a:ext cx="2606040" cy="3127248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77824" y="1792224"/>
            <a:ext cx="3657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5"/>
          <p:cNvSpPr/>
          <p:nvPr/>
        </p:nvSpPr>
        <p:spPr>
          <a:xfrm>
            <a:off x="877824" y="2011680"/>
            <a:ext cx="512064" cy="51206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" y="2135124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7824" y="263347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设计规范模块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96112" y="3090672"/>
            <a:ext cx="207568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色值体系（主 / 辅 / 强调色）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字体配对与字号层级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间距与栅格系统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组件圆角、阴影标准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456432" y="1481328"/>
            <a:ext cx="2606040" cy="3127248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730752" y="1792224"/>
            <a:ext cx="3657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0"/>
          <p:cNvSpPr/>
          <p:nvPr/>
        </p:nvSpPr>
        <p:spPr>
          <a:xfrm>
            <a:off x="3730752" y="2011680"/>
            <a:ext cx="512064" cy="51206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196" y="2135124"/>
            <a:ext cx="265176" cy="2651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30752" y="263347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组件库模块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3749040" y="3090672"/>
            <a:ext cx="207568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卡片、按钮、表单模板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图标使用规范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布局变体示例代码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响应式断点约定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309360" y="1481328"/>
            <a:ext cx="2606040" cy="3127248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583680" y="1792224"/>
            <a:ext cx="3657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5"/>
          <p:cNvSpPr/>
          <p:nvPr/>
        </p:nvSpPr>
        <p:spPr>
          <a:xfrm>
            <a:off x="6583680" y="2011680"/>
            <a:ext cx="512064" cy="51206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7124" y="2135124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83680" y="263347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检查模块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601968" y="3090672"/>
            <a:ext cx="207568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文字溢出自查清单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颜色对比度验证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对齐与间距一致性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反模式禁用列表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1"/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策略一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 Token 注入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603504" y="1444752"/>
            <a:ext cx="4133088" cy="3127248"/>
          </a:xfrm>
          <a:prstGeom prst="roundRect">
            <a:avLst>
              <a:gd name="adj" fmla="val 2047"/>
            </a:avLst>
          </a:prstGeom>
          <a:solidFill>
            <a:srgbClr val="15375B"/>
          </a:solidFill>
          <a:ln w="12700">
            <a:solidFill>
              <a:srgbClr val="15375B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03504" y="1810512"/>
            <a:ext cx="4133088" cy="10973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9" name="Shape 5"/>
          <p:cNvSpPr/>
          <p:nvPr/>
        </p:nvSpPr>
        <p:spPr>
          <a:xfrm>
            <a:off x="877824" y="1586484"/>
            <a:ext cx="96012" cy="9601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Shape 6"/>
          <p:cNvSpPr/>
          <p:nvPr/>
        </p:nvSpPr>
        <p:spPr>
          <a:xfrm>
            <a:off x="1060704" y="1586484"/>
            <a:ext cx="96012" cy="9601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7"/>
          <p:cNvSpPr/>
          <p:nvPr/>
        </p:nvSpPr>
        <p:spPr>
          <a:xfrm>
            <a:off x="1243584" y="1586484"/>
            <a:ext cx="96012" cy="9601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8"/>
          <p:cNvSpPr/>
          <p:nvPr/>
        </p:nvSpPr>
        <p:spPr>
          <a:xfrm>
            <a:off x="1472184" y="15133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877824" y="2011680"/>
            <a:ext cx="362102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设计 Token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8FB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色值系统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主色: #1C4E80   深海蓝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辅色: #EAF2FB   冰蓝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强调: #0D9488   青绿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8FB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字体规范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标题: Calibri Bold 36-44pt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正文: Calibri 14-16pt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8FB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间距系统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基础单位: 8px</a:t>
            </a:r>
            <a:endParaRPr lang="en-US" sz="10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边距: 最小 0.5in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47488" y="1444752"/>
            <a:ext cx="3511296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47488" y="1627632"/>
            <a:ext cx="3200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2"/>
          <p:cNvSpPr/>
          <p:nvPr/>
        </p:nvSpPr>
        <p:spPr>
          <a:xfrm>
            <a:off x="5266944" y="1714500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668" y="1792224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33872" y="160934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色彩一致性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833872" y="1901952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每次严格遵循预设色值，不再随机选取主题色。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47488" y="2528316"/>
            <a:ext cx="3511296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47488" y="2711196"/>
            <a:ext cx="3200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17"/>
          <p:cNvSpPr/>
          <p:nvPr/>
        </p:nvSpPr>
        <p:spPr>
          <a:xfrm>
            <a:off x="5266944" y="2798064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4668" y="2875788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33872" y="26929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字体规范化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833872" y="29855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标题与正文字号差异清晰，层级感自动建立。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047488" y="3611880"/>
            <a:ext cx="3511296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047488" y="3794760"/>
            <a:ext cx="3200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2"/>
          <p:cNvSpPr/>
          <p:nvPr/>
        </p:nvSpPr>
        <p:spPr>
          <a:xfrm>
            <a:off x="5266944" y="3881628"/>
            <a:ext cx="420624" cy="420624"/>
          </a:xfrm>
          <a:prstGeom prst="ellipse">
            <a:avLst/>
          </a:prstGeom>
          <a:solidFill>
            <a:srgbClr val="EAF2FB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4668" y="3959352"/>
            <a:ext cx="265176" cy="26517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833872" y="377647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间距系统化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833872" y="406908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8px 栅格，元素间距整齐统一，无需手动纠偏。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1"/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策略二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布局模式库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03504" y="13898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Skill 中预定义常用布局模板，AI 可直接复用，确保每张页面视觉平衡、结构清晰。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03504" y="1865376"/>
            <a:ext cx="1938528" cy="2688336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22960" y="2103120"/>
            <a:ext cx="1499616" cy="1261872"/>
          </a:xfrm>
          <a:prstGeom prst="roundRect">
            <a:avLst>
              <a:gd name="adj" fmla="val 2899"/>
            </a:avLst>
          </a:prstGeom>
          <a:solidFill>
            <a:srgbClr val="EAF2FB"/>
          </a:solidFill>
          <a:ln/>
        </p:spPr>
      </p:sp>
      <p:sp>
        <p:nvSpPr>
          <p:cNvPr id="10" name="Shape 6"/>
          <p:cNvSpPr/>
          <p:nvPr/>
        </p:nvSpPr>
        <p:spPr>
          <a:xfrm>
            <a:off x="950976" y="2249424"/>
            <a:ext cx="599846" cy="969264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1" name="Shape 7"/>
          <p:cNvSpPr/>
          <p:nvPr/>
        </p:nvSpPr>
        <p:spPr>
          <a:xfrm>
            <a:off x="1692737" y="2304288"/>
            <a:ext cx="479877" cy="100584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2" name="Shape 8"/>
          <p:cNvSpPr/>
          <p:nvPr/>
        </p:nvSpPr>
        <p:spPr>
          <a:xfrm>
            <a:off x="1692737" y="2615184"/>
            <a:ext cx="479877" cy="100584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3" name="Shape 9"/>
          <p:cNvSpPr/>
          <p:nvPr/>
        </p:nvSpPr>
        <p:spPr>
          <a:xfrm>
            <a:off x="1692737" y="2926080"/>
            <a:ext cx="479877" cy="100584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4" name="Shape 10"/>
          <p:cNvSpPr/>
          <p:nvPr/>
        </p:nvSpPr>
        <p:spPr>
          <a:xfrm>
            <a:off x="1389888" y="3493008"/>
            <a:ext cx="365760" cy="2377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1"/>
          <p:cNvSpPr/>
          <p:nvPr/>
        </p:nvSpPr>
        <p:spPr>
          <a:xfrm>
            <a:off x="786384" y="362102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双列布局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49808" y="39319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 + 插图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697480" y="1865376"/>
            <a:ext cx="1938528" cy="2688336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916936" y="2103120"/>
            <a:ext cx="1499616" cy="1261872"/>
          </a:xfrm>
          <a:prstGeom prst="roundRect">
            <a:avLst>
              <a:gd name="adj" fmla="val 2899"/>
            </a:avLst>
          </a:prstGeom>
          <a:solidFill>
            <a:srgbClr val="EAF2FB"/>
          </a:solidFill>
          <a:ln/>
        </p:spPr>
      </p:sp>
      <p:sp>
        <p:nvSpPr>
          <p:cNvPr id="19" name="Shape 15"/>
          <p:cNvSpPr/>
          <p:nvPr/>
        </p:nvSpPr>
        <p:spPr>
          <a:xfrm>
            <a:off x="3063240" y="2286000"/>
            <a:ext cx="192024" cy="192024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0" name="Shape 16"/>
          <p:cNvSpPr/>
          <p:nvPr/>
        </p:nvSpPr>
        <p:spPr>
          <a:xfrm>
            <a:off x="3355848" y="2336292"/>
            <a:ext cx="896112" cy="9144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21" name="Shape 17"/>
          <p:cNvSpPr/>
          <p:nvPr/>
        </p:nvSpPr>
        <p:spPr>
          <a:xfrm>
            <a:off x="3063240" y="2651760"/>
            <a:ext cx="192024" cy="192024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2" name="Shape 18"/>
          <p:cNvSpPr/>
          <p:nvPr/>
        </p:nvSpPr>
        <p:spPr>
          <a:xfrm>
            <a:off x="3355848" y="2702052"/>
            <a:ext cx="896112" cy="9144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23" name="Shape 19"/>
          <p:cNvSpPr/>
          <p:nvPr/>
        </p:nvSpPr>
        <p:spPr>
          <a:xfrm>
            <a:off x="3063240" y="3017520"/>
            <a:ext cx="192024" cy="192024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4" name="Shape 20"/>
          <p:cNvSpPr/>
          <p:nvPr/>
        </p:nvSpPr>
        <p:spPr>
          <a:xfrm>
            <a:off x="3355848" y="3067812"/>
            <a:ext cx="896112" cy="9144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25" name="Shape 21"/>
          <p:cNvSpPr/>
          <p:nvPr/>
        </p:nvSpPr>
        <p:spPr>
          <a:xfrm>
            <a:off x="3483864" y="3493008"/>
            <a:ext cx="365760" cy="2377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2"/>
          <p:cNvSpPr/>
          <p:nvPr/>
        </p:nvSpPr>
        <p:spPr>
          <a:xfrm>
            <a:off x="2880360" y="362102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图标行布局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2843784" y="39319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圆圈图标 + 标题描述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791456" y="1865376"/>
            <a:ext cx="1938528" cy="2688336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010912" y="2103120"/>
            <a:ext cx="1499616" cy="1261872"/>
          </a:xfrm>
          <a:prstGeom prst="roundRect">
            <a:avLst>
              <a:gd name="adj" fmla="val 2899"/>
            </a:avLst>
          </a:prstGeom>
          <a:solidFill>
            <a:srgbClr val="EAF2FB"/>
          </a:solidFill>
          <a:ln/>
        </p:spPr>
      </p:sp>
      <p:sp>
        <p:nvSpPr>
          <p:cNvPr id="30" name="Shape 26"/>
          <p:cNvSpPr/>
          <p:nvPr/>
        </p:nvSpPr>
        <p:spPr>
          <a:xfrm>
            <a:off x="5157216" y="2286000"/>
            <a:ext cx="377952" cy="402336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31" name="Shape 27"/>
          <p:cNvSpPr/>
          <p:nvPr/>
        </p:nvSpPr>
        <p:spPr>
          <a:xfrm>
            <a:off x="5590032" y="2286000"/>
            <a:ext cx="377952" cy="402336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32" name="Shape 28"/>
          <p:cNvSpPr/>
          <p:nvPr/>
        </p:nvSpPr>
        <p:spPr>
          <a:xfrm>
            <a:off x="6022848" y="2286000"/>
            <a:ext cx="377952" cy="402336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33" name="Shape 29"/>
          <p:cNvSpPr/>
          <p:nvPr/>
        </p:nvSpPr>
        <p:spPr>
          <a:xfrm>
            <a:off x="5157216" y="2816352"/>
            <a:ext cx="377952" cy="402336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34" name="Shape 30"/>
          <p:cNvSpPr/>
          <p:nvPr/>
        </p:nvSpPr>
        <p:spPr>
          <a:xfrm>
            <a:off x="5590032" y="2816352"/>
            <a:ext cx="377952" cy="402336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35" name="Shape 31"/>
          <p:cNvSpPr/>
          <p:nvPr/>
        </p:nvSpPr>
        <p:spPr>
          <a:xfrm>
            <a:off x="6022848" y="2816352"/>
            <a:ext cx="377952" cy="402336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36" name="Shape 32"/>
          <p:cNvSpPr/>
          <p:nvPr/>
        </p:nvSpPr>
        <p:spPr>
          <a:xfrm>
            <a:off x="5577840" y="3493008"/>
            <a:ext cx="365760" cy="2377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3"/>
          <p:cNvSpPr/>
          <p:nvPr/>
        </p:nvSpPr>
        <p:spPr>
          <a:xfrm>
            <a:off x="4974336" y="362102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2×3 网格卡片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4937760" y="39319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等宽卡片排列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885432" y="1865376"/>
            <a:ext cx="1938528" cy="2688336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7104888" y="2103120"/>
            <a:ext cx="1499616" cy="1261872"/>
          </a:xfrm>
          <a:prstGeom prst="roundRect">
            <a:avLst>
              <a:gd name="adj" fmla="val 2899"/>
            </a:avLst>
          </a:prstGeom>
          <a:solidFill>
            <a:srgbClr val="EAF2FB"/>
          </a:solidFill>
          <a:ln/>
        </p:spPr>
      </p:sp>
      <p:sp>
        <p:nvSpPr>
          <p:cNvPr id="41" name="Shape 37"/>
          <p:cNvSpPr/>
          <p:nvPr/>
        </p:nvSpPr>
        <p:spPr>
          <a:xfrm>
            <a:off x="7104888" y="2103120"/>
            <a:ext cx="719816" cy="1261872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42" name="Shape 38"/>
          <p:cNvSpPr/>
          <p:nvPr/>
        </p:nvSpPr>
        <p:spPr>
          <a:xfrm>
            <a:off x="7974665" y="2304288"/>
            <a:ext cx="479877" cy="100584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43" name="Shape 39"/>
          <p:cNvSpPr/>
          <p:nvPr/>
        </p:nvSpPr>
        <p:spPr>
          <a:xfrm>
            <a:off x="7974665" y="2615184"/>
            <a:ext cx="479877" cy="100584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44" name="Shape 40"/>
          <p:cNvSpPr/>
          <p:nvPr/>
        </p:nvSpPr>
        <p:spPr>
          <a:xfrm>
            <a:off x="7974665" y="2926080"/>
            <a:ext cx="479877" cy="100584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45" name="Shape 41"/>
          <p:cNvSpPr/>
          <p:nvPr/>
        </p:nvSpPr>
        <p:spPr>
          <a:xfrm>
            <a:off x="7671816" y="3493008"/>
            <a:ext cx="365760" cy="2377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Text 42"/>
          <p:cNvSpPr/>
          <p:nvPr/>
        </p:nvSpPr>
        <p:spPr>
          <a:xfrm>
            <a:off x="7068312" y="362102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半出血图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7031736" y="39319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图片满版 + 内容叠加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1"/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策略三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反模式清单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603504" y="1444752"/>
            <a:ext cx="3694176" cy="402336"/>
          </a:xfrm>
          <a:prstGeom prst="roundRect">
            <a:avLst>
              <a:gd name="adj" fmla="val 11364"/>
            </a:avLst>
          </a:prstGeom>
          <a:solidFill>
            <a:srgbClr val="FBEDEA"/>
          </a:solidFill>
          <a:ln/>
        </p:spPr>
      </p:sp>
      <p:sp>
        <p:nvSpPr>
          <p:cNvPr id="8" name="Text 4"/>
          <p:cNvSpPr/>
          <p:nvPr/>
        </p:nvSpPr>
        <p:spPr>
          <a:xfrm>
            <a:off x="603504" y="1444752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常见错误（AI 默认行为）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864608" y="1444752"/>
            <a:ext cx="3694176" cy="402336"/>
          </a:xfrm>
          <a:prstGeom prst="roundRect">
            <a:avLst>
              <a:gd name="adj" fmla="val 11364"/>
            </a:avLst>
          </a:prstGeom>
          <a:solidFill>
            <a:srgbClr val="E4F3F0"/>
          </a:solidFill>
          <a:ln/>
        </p:spPr>
      </p:sp>
      <p:sp>
        <p:nvSpPr>
          <p:cNvPr id="10" name="Text 6"/>
          <p:cNvSpPr/>
          <p:nvPr/>
        </p:nvSpPr>
        <p:spPr>
          <a:xfrm>
            <a:off x="4864608" y="1444752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Skill 指导后的正确做法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3504" y="1993392"/>
            <a:ext cx="3694176" cy="640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0DAD4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04672" y="1993392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标题下方加装饰性 accent 线，AI 特征明显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25696" y="2157984"/>
            <a:ext cx="310896" cy="310896"/>
          </a:xfrm>
          <a:prstGeom prst="ellipse">
            <a:avLst/>
          </a:prstGeom>
          <a:solidFill>
            <a:srgbClr val="0D9488"/>
          </a:solidFill>
          <a:ln/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425696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64608" y="1993392"/>
            <a:ext cx="3694176" cy="640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65776" y="1993392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用背景色或充足留白区分层级，更自然专业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3504" y="2752344"/>
            <a:ext cx="3694176" cy="640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0DAD4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04672" y="2752344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文字溢出文本框边界，内容被截断不可见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425696" y="2916936"/>
            <a:ext cx="310896" cy="310896"/>
          </a:xfrm>
          <a:prstGeom prst="ellipse">
            <a:avLst/>
          </a:prstGeom>
          <a:solidFill>
            <a:srgbClr val="0D9488"/>
          </a:solidFill>
          <a:ln/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425696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64608" y="2752344"/>
            <a:ext cx="3694176" cy="640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065776" y="2752344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控制字号与容器高度，确保文字完整展示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03504" y="3511296"/>
            <a:ext cx="3694176" cy="640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0DAD4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804672" y="3511296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默认奶油色 / 米色背景（F5F5DC 等暖色）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425696" y="3675888"/>
            <a:ext cx="310896" cy="310896"/>
          </a:xfrm>
          <a:prstGeom prst="ellipse">
            <a:avLst/>
          </a:prstGeom>
          <a:solidFill>
            <a:srgbClr val="0D9488"/>
          </a:solidFill>
          <a:ln/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425696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864608" y="3511296"/>
            <a:ext cx="3694176" cy="640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5065776" y="3511296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明确指定白色或品牌色，不依赖随机默认值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03504" y="4270248"/>
            <a:ext cx="3694176" cy="640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0DAD4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804672" y="4270248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 err="1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</a:t>
            </a:r>
            <a:r>
              <a:rPr lang="zh-CN" alt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</a:t>
            </a:r>
            <a:r>
              <a:rPr lang="en-US" sz="1050" dirty="0" err="1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使用完全相同的布局模板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425696" y="4434840"/>
            <a:ext cx="310896" cy="310896"/>
          </a:xfrm>
          <a:prstGeom prst="ellipse">
            <a:avLst/>
          </a:prstGeom>
          <a:solidFill>
            <a:srgbClr val="0D9488"/>
          </a:solidFill>
          <a:ln/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425696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4864608" y="4270248"/>
            <a:ext cx="3694176" cy="640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5065776" y="4270248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zh-CN" alt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不同页面</a:t>
            </a:r>
            <a:r>
              <a:rPr lang="en-US" sz="1050" dirty="0" err="1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变换版式，双列、网格、卡片交替使用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BD774-6998-7404-4F94-2FC5448A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>
            <a:extLst>
              <a:ext uri="{FF2B5EF4-FFF2-40B4-BE49-F238E27FC236}">
                <a16:creationId xmlns:a16="http://schemas.microsoft.com/office/drawing/2014/main" id="{E5EEEFA5-6A21-09C2-A204-34DFB5B8F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logo.png">
            <a:extLst>
              <a:ext uri="{FF2B5EF4-FFF2-40B4-BE49-F238E27FC236}">
                <a16:creationId xmlns:a16="http://schemas.microsoft.com/office/drawing/2014/main" id="{A8F23F39-6B5E-C2A8-29C5-CC6AD1AFA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54D0CD04-37AC-0242-CF15-6D64D7A905BB}"/>
              </a:ext>
            </a:extLst>
          </p:cNvPr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38DA26F-3AC4-6ACC-4791-482F9C54C4CD}"/>
              </a:ext>
            </a:extLst>
          </p:cNvPr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实战演示与效果对比</a:t>
            </a:r>
            <a:endParaRPr lang="en-US" sz="11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5962887-8056-8D1F-4C0F-23F16D067550}"/>
              </a:ext>
            </a:extLst>
          </p:cNvPr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效果对比：有 Skill vs 无 Skill</a:t>
            </a:r>
            <a:endParaRPr lang="en-US" sz="26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B17C700-770E-660F-E053-0601CC441AA4}"/>
              </a:ext>
            </a:extLst>
          </p:cNvPr>
          <p:cNvSpPr txBox="1"/>
          <p:nvPr/>
        </p:nvSpPr>
        <p:spPr>
          <a:xfrm>
            <a:off x="554372" y="2571750"/>
            <a:ext cx="3160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请帮我创建一个简单的产品首页，生成一个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演示文档就可以，</a:t>
            </a:r>
            <a:r>
              <a:rPr lang="zh-CN" altLang="en-US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不使用任何</a:t>
            </a:r>
            <a:r>
              <a:rPr lang="en-US" altLang="zh-CN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skill</a:t>
            </a:r>
            <a:endParaRPr lang="zh-CN" altLang="en-US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60D022A-3A9D-736F-5A19-0FB52EAD88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212" r="19434"/>
          <a:stretch>
            <a:fillRect/>
          </a:stretch>
        </p:blipFill>
        <p:spPr>
          <a:xfrm>
            <a:off x="353369" y="1631880"/>
            <a:ext cx="3698303" cy="31458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9D0A5933-0810-A924-62CE-2936AE3A5ACE}"/>
              </a:ext>
            </a:extLst>
          </p:cNvPr>
          <p:cNvSpPr txBox="1"/>
          <p:nvPr/>
        </p:nvSpPr>
        <p:spPr>
          <a:xfrm>
            <a:off x="5029862" y="2137000"/>
            <a:ext cx="3590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请帮我创建一个新的简单的产品首页，生成一个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演示文档就可以，使用 </a:t>
            </a:r>
            <a:r>
              <a:rPr lang="en-US" altLang="zh-CN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/frontend-design </a:t>
            </a:r>
            <a:endParaRPr lang="zh-CN" altLang="en-US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EC9EC83-1AC0-38E5-3E25-5EA6B0BFDB63}"/>
              </a:ext>
            </a:extLst>
          </p:cNvPr>
          <p:cNvPicPr>
            <a:picLocks/>
          </p:cNvPicPr>
          <p:nvPr/>
        </p:nvPicPr>
        <p:blipFill>
          <a:blip r:embed="rId6"/>
          <a:srcRect l="20505" r="22088" b="6967"/>
          <a:stretch>
            <a:fillRect/>
          </a:stretch>
        </p:blipFill>
        <p:spPr>
          <a:xfrm>
            <a:off x="4382473" y="1191224"/>
            <a:ext cx="4618307" cy="36843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F7CBFF6-CC44-7DEA-CD28-CBD1DCAEBD0F}"/>
              </a:ext>
            </a:extLst>
          </p:cNvPr>
          <p:cNvCxnSpPr>
            <a:cxnSpLocks/>
          </p:cNvCxnSpPr>
          <p:nvPr/>
        </p:nvCxnSpPr>
        <p:spPr>
          <a:xfrm flipV="1">
            <a:off x="3664226" y="2395242"/>
            <a:ext cx="967409" cy="7919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2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6EF01-B72D-FE92-F86D-45F5A554F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>
            <a:extLst>
              <a:ext uri="{FF2B5EF4-FFF2-40B4-BE49-F238E27FC236}">
                <a16:creationId xmlns:a16="http://schemas.microsoft.com/office/drawing/2014/main" id="{70D21CA8-3467-F869-33D8-A8AF06091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logo.png">
            <a:extLst>
              <a:ext uri="{FF2B5EF4-FFF2-40B4-BE49-F238E27FC236}">
                <a16:creationId xmlns:a16="http://schemas.microsoft.com/office/drawing/2014/main" id="{D64C9F8F-465D-5807-9DAE-AFEE3C9E4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A3EF15E6-0094-4F1F-C850-2CA3365F61D8}"/>
              </a:ext>
            </a:extLst>
          </p:cNvPr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DD4DAC1-0EA4-0DA8-F464-5FAF4D038571}"/>
              </a:ext>
            </a:extLst>
          </p:cNvPr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实战演示与效果对比</a:t>
            </a:r>
            <a:endParaRPr lang="en-US" sz="11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33CFF34-79C8-F53D-CC82-5668009AB805}"/>
              </a:ext>
            </a:extLst>
          </p:cNvPr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效果对比：有 Skill vs 无 Skill</a:t>
            </a:r>
            <a:endParaRPr lang="en-US" sz="2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65C1784-5A53-33E4-147D-9B37EC412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838148"/>
            <a:ext cx="2760570" cy="18298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40F3674-403E-C2F0-1F87-03E62119B260}"/>
              </a:ext>
            </a:extLst>
          </p:cNvPr>
          <p:cNvSpPr txBox="1"/>
          <p:nvPr/>
        </p:nvSpPr>
        <p:spPr>
          <a:xfrm>
            <a:off x="451104" y="1471479"/>
            <a:ext cx="323951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自定义</a:t>
            </a:r>
            <a:r>
              <a:rPr lang="en-US" altLang="zh-CN" sz="20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skill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：请帮我创建一个新的简单的产品首页，生成一个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演示文档就可以，使用 </a:t>
            </a:r>
            <a:r>
              <a:rPr lang="en-US" altLang="zh-CN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/</a:t>
            </a:r>
            <a:r>
              <a:rPr lang="en-US" altLang="zh-CN" sz="1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quchiai</a:t>
            </a:r>
            <a:r>
              <a:rPr lang="en-US" altLang="zh-CN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-design-system </a:t>
            </a:r>
            <a:endParaRPr lang="zh-CN" altLang="en-US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F8CDC95-A93F-273B-E9A4-1575726006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616" y="1561217"/>
            <a:ext cx="5349937" cy="3106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7461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10896"/>
            <a:ext cx="822960" cy="38378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3504" y="475488"/>
            <a:ext cx="201168" cy="2560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1"/>
          <p:cNvSpPr/>
          <p:nvPr/>
        </p:nvSpPr>
        <p:spPr>
          <a:xfrm>
            <a:off x="896112" y="365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实战演示与效果对比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03504" y="6400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效果对比：有 Skill vs 无 Skill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603504" y="1444752"/>
            <a:ext cx="7973568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572768"/>
          <a:ext cx="7662672" cy="223113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 Skill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 Skill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视觉一致性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布局合理性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代码可维护性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迭代效率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749808" y="1975104"/>
            <a:ext cx="7680960" cy="731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432304"/>
            <a:ext cx="7680960" cy="731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1" name="Shape 6"/>
          <p:cNvSpPr/>
          <p:nvPr/>
        </p:nvSpPr>
        <p:spPr>
          <a:xfrm>
            <a:off x="749808" y="2889504"/>
            <a:ext cx="7680960" cy="731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2" name="Shape 7"/>
          <p:cNvSpPr/>
          <p:nvPr/>
        </p:nvSpPr>
        <p:spPr>
          <a:xfrm>
            <a:off x="749808" y="3346704"/>
            <a:ext cx="7680960" cy="7315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3" name="Shape 8"/>
          <p:cNvSpPr/>
          <p:nvPr/>
        </p:nvSpPr>
        <p:spPr>
          <a:xfrm>
            <a:off x="603504" y="4187952"/>
            <a:ext cx="7973568" cy="566928"/>
          </a:xfrm>
          <a:prstGeom prst="roundRect">
            <a:avLst>
              <a:gd name="adj" fmla="val 8065"/>
            </a:avLst>
          </a:prstGeom>
          <a:solidFill>
            <a:srgbClr val="EAF2FB"/>
          </a:solidFill>
          <a:ln/>
        </p:spPr>
      </p:sp>
      <p:sp>
        <p:nvSpPr>
          <p:cNvPr id="14" name="Shape 9"/>
          <p:cNvSpPr/>
          <p:nvPr/>
        </p:nvSpPr>
        <p:spPr>
          <a:xfrm>
            <a:off x="603504" y="4334256"/>
            <a:ext cx="3200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0"/>
          <p:cNvSpPr/>
          <p:nvPr/>
        </p:nvSpPr>
        <p:spPr>
          <a:xfrm>
            <a:off x="859536" y="4187952"/>
            <a:ext cx="7516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Skill </a:t>
            </a:r>
            <a:r>
              <a:rPr lang="en-US" sz="1250" dirty="0" err="1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后，</a:t>
            </a:r>
            <a:r>
              <a:rPr lang="en-US" sz="1250" b="1" dirty="0" err="1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整体输出质量显著提升</a:t>
            </a:r>
            <a:r>
              <a:rPr lang="en-US" sz="1250" dirty="0" err="1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，前端交付周期明显缩短</a:t>
            </a: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37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-2194560"/>
            <a:ext cx="5852160" cy="5852160"/>
          </a:xfrm>
          <a:prstGeom prst="rect">
            <a:avLst/>
          </a:prstGeom>
        </p:spPr>
      </p:pic>
      <p:pic>
        <p:nvPicPr>
          <p:cNvPr id="3" name="Image 1" descr="blob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77440" y="2377440"/>
            <a:ext cx="4572000" cy="4572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3504" y="676656"/>
            <a:ext cx="201168" cy="25603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5" name="Text 1"/>
          <p:cNvSpPr/>
          <p:nvPr/>
        </p:nvSpPr>
        <p:spPr>
          <a:xfrm>
            <a:off x="896112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03504" y="80467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 &amp; 行动建议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603504" y="1371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三步落地，让 AI 前端输出从「差不多」变成「专业级」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479792" y="329184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65100" dist="50800" dir="5400000" algn="bl" rotWithShape="0">
              <a:srgbClr val="1C3A5E">
                <a:alpha val="8500"/>
              </a:srgbClr>
            </a:outerShdw>
          </a:effectLst>
        </p:spPr>
      </p:sp>
      <p:pic>
        <p:nvPicPr>
          <p:cNvPr id="9" name="Image 2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502920"/>
            <a:ext cx="804672" cy="37525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03504" y="1920240"/>
            <a:ext cx="2606040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2C5078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877824" y="2231136"/>
            <a:ext cx="384048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7"/>
          <p:cNvSpPr/>
          <p:nvPr/>
        </p:nvSpPr>
        <p:spPr>
          <a:xfrm>
            <a:off x="859536" y="23408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8"/>
          <p:cNvSpPr/>
          <p:nvPr/>
        </p:nvSpPr>
        <p:spPr>
          <a:xfrm>
            <a:off x="877824" y="29260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整理设计 Token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77824" y="3291840"/>
            <a:ext cx="20939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梳理项目色值、字体、间距标准，写入 SKILL.md，建立可复用的设计语言基础。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456432" y="1920240"/>
            <a:ext cx="2606040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2C5078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730752" y="2231136"/>
            <a:ext cx="384048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2"/>
          <p:cNvSpPr/>
          <p:nvPr/>
        </p:nvSpPr>
        <p:spPr>
          <a:xfrm>
            <a:off x="3712464" y="23408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3730752" y="29260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积累组件模板库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730752" y="3291840"/>
            <a:ext cx="20939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将高频使用的 UI 组件整理为代码片段，持续补充并版本化管理。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309360" y="1920240"/>
            <a:ext cx="2606040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2C5078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3680" y="2231136"/>
            <a:ext cx="384048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7"/>
          <p:cNvSpPr/>
          <p:nvPr/>
        </p:nvSpPr>
        <p:spPr>
          <a:xfrm>
            <a:off x="6565392" y="23408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6583680" y="29260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QA 验收流程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583680" y="3291840"/>
            <a:ext cx="20939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AI 生成后，用 Skill 中的检查清单进行视觉验收，形成闭环。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0" y="444398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200" dirty="0">
                <a:solidFill>
                  <a:srgbClr val="8D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感谢观看  —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7552-460A-61A8-F2F2-0DD4420D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grid.png">
            <a:extLst>
              <a:ext uri="{FF2B5EF4-FFF2-40B4-BE49-F238E27FC236}">
                <a16:creationId xmlns:a16="http://schemas.microsoft.com/office/drawing/2014/main" id="{592A58D5-42CB-0D1B-6206-0510B37B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blob_navy.png">
            <a:extLst>
              <a:ext uri="{FF2B5EF4-FFF2-40B4-BE49-F238E27FC236}">
                <a16:creationId xmlns:a16="http://schemas.microsoft.com/office/drawing/2014/main" id="{4F82E500-56BD-2380-76B2-1730788E4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826" y="-50449"/>
            <a:ext cx="5486400" cy="5486400"/>
          </a:xfrm>
          <a:prstGeom prst="rect">
            <a:avLst/>
          </a:prstGeom>
        </p:spPr>
      </p:pic>
      <p:pic>
        <p:nvPicPr>
          <p:cNvPr id="4" name="Image 2" descr="blob_teal.png">
            <a:extLst>
              <a:ext uri="{FF2B5EF4-FFF2-40B4-BE49-F238E27FC236}">
                <a16:creationId xmlns:a16="http://schemas.microsoft.com/office/drawing/2014/main" id="{7628606D-0600-7537-EFB5-2932ABA64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94560" y="2560320"/>
            <a:ext cx="4206240" cy="4206240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964D52EF-6BB7-434A-064F-7690346B4A5D}"/>
              </a:ext>
            </a:extLst>
          </p:cNvPr>
          <p:cNvSpPr/>
          <p:nvPr/>
        </p:nvSpPr>
        <p:spPr>
          <a:xfrm>
            <a:off x="603504" y="1280160"/>
            <a:ext cx="27432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6E19CDB-FBD7-41BA-2E46-B1040EAA753D}"/>
              </a:ext>
            </a:extLst>
          </p:cNvPr>
          <p:cNvSpPr/>
          <p:nvPr/>
        </p:nvSpPr>
        <p:spPr>
          <a:xfrm>
            <a:off x="987552" y="11612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×  前端  ×  SKILL</a:t>
            </a:r>
            <a:endParaRPr lang="en-US" sz="12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2DD3F74-3F20-00DE-5ECD-6B889AF9633C}"/>
              </a:ext>
            </a:extLst>
          </p:cNvPr>
          <p:cNvSpPr/>
          <p:nvPr/>
        </p:nvSpPr>
        <p:spPr>
          <a:xfrm>
            <a:off x="603504" y="1517904"/>
            <a:ext cx="6263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巧用 Skill</a:t>
            </a:r>
            <a:endParaRPr lang="en-US" sz="3500" dirty="0"/>
          </a:p>
          <a:p>
            <a:pPr marL="0" indent="0">
              <a:lnSpc>
                <a:spcPts val="4500"/>
              </a:lnSpc>
              <a:buNone/>
            </a:pPr>
            <a:r>
              <a:rPr lang="en-US" sz="3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让前端页面不再有</a:t>
            </a:r>
            <a:r>
              <a:rPr lang="en-US" sz="3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「AI」</a:t>
            </a:r>
            <a:r>
              <a:rPr lang="en-US" sz="35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味</a:t>
            </a:r>
            <a:endParaRPr lang="en-US" sz="35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5FC3514-0680-E13F-5621-576F35DAB6BB}"/>
              </a:ext>
            </a:extLst>
          </p:cNvPr>
          <p:cNvSpPr/>
          <p:nvPr/>
        </p:nvSpPr>
        <p:spPr>
          <a:xfrm>
            <a:off x="603504" y="30540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从模糊输出到精准交付的完整方法论</a:t>
            </a:r>
            <a:endParaRPr lang="en-US" sz="16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7DBEF23D-C83E-A93F-30B1-ACD0CFF96964}"/>
              </a:ext>
            </a:extLst>
          </p:cNvPr>
          <p:cNvSpPr/>
          <p:nvPr/>
        </p:nvSpPr>
        <p:spPr>
          <a:xfrm>
            <a:off x="603504" y="3730752"/>
            <a:ext cx="566928" cy="20117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B50D472-0424-5C81-D186-71A03602A6B7}"/>
              </a:ext>
            </a:extLst>
          </p:cNvPr>
          <p:cNvSpPr/>
          <p:nvPr/>
        </p:nvSpPr>
        <p:spPr>
          <a:xfrm>
            <a:off x="603504" y="387705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人工智能事业群 · 基础平台技术中心 · </a:t>
            </a:r>
            <a:r>
              <a:rPr lang="en-US" sz="1200" dirty="0" err="1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研发中心</a:t>
            </a:r>
            <a:r>
              <a:rPr lang="en-US" sz="1200" dirty="0">
                <a:solidFill>
                  <a:srgbClr val="9AA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endParaRPr lang="en-US" sz="12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F4880802-B2F8-F79C-12E2-0FAFAC6A4E00}"/>
              </a:ext>
            </a:extLst>
          </p:cNvPr>
          <p:cNvSpPr/>
          <p:nvPr/>
        </p:nvSpPr>
        <p:spPr>
          <a:xfrm>
            <a:off x="7479792" y="2084832"/>
            <a:ext cx="1298448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228600" dist="76200" dir="5400000" algn="bl" rotWithShape="0">
              <a:srgbClr val="1C3A5E">
                <a:alpha val="11000"/>
              </a:srgbClr>
            </a:outerShdw>
          </a:effectLst>
        </p:spPr>
      </p:sp>
      <p:pic>
        <p:nvPicPr>
          <p:cNvPr id="13" name="Image 3" descr="logo.png">
            <a:extLst>
              <a:ext uri="{FF2B5EF4-FFF2-40B4-BE49-F238E27FC236}">
                <a16:creationId xmlns:a16="http://schemas.microsoft.com/office/drawing/2014/main" id="{972DC5D1-ABAD-033F-F2D8-A2F64C0B3E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2286000"/>
            <a:ext cx="969264" cy="45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816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871</Words>
  <Application>Microsoft Office PowerPoint</Application>
  <PresentationFormat>全屏显示(16:9)</PresentationFormat>
  <Paragraphs>179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黑体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巧用 Skill — 让前端页面不再有 AI 味</dc:title>
  <dc:subject>PptxGenJS Presentation</dc:subject>
  <dc:creator>陈璎</dc:creator>
  <cp:lastModifiedBy>Jean C</cp:lastModifiedBy>
  <cp:revision>23</cp:revision>
  <dcterms:created xsi:type="dcterms:W3CDTF">2026-05-18T08:17:30Z</dcterms:created>
  <dcterms:modified xsi:type="dcterms:W3CDTF">2026-09-01T07:05:13Z</dcterms:modified>
</cp:coreProperties>
</file>